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5" r:id="rId7"/>
    <p:sldId id="260" r:id="rId8"/>
    <p:sldId id="264" r:id="rId9"/>
    <p:sldId id="261" r:id="rId10"/>
    <p:sldId id="262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ED"/>
    <a:srgbClr val="EA580C"/>
    <a:srgbClr val="1E293B"/>
    <a:srgbClr val="C24F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5" d="100"/>
          <a:sy n="125" d="100"/>
        </p:scale>
        <p:origin x="226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rPr lang="en-IN" sz="1600" dirty="0">
                <a:solidFill>
                  <a:srgbClr val="FFF7ED"/>
                </a:solidFill>
              </a:rPr>
              <a:t>Project Overview &amp; Presentation</a:t>
            </a:r>
            <a:endParaRPr lang="en-IN" sz="1600" u="sng" dirty="0">
              <a:solidFill>
                <a:srgbClr val="FFF7ED"/>
              </a:solidFill>
              <a:uFill>
                <a:solidFill>
                  <a:schemeClr val="bg1"/>
                </a:solidFill>
              </a:uFill>
              <a:latin typeface="Arial Black" panose="020B0A04020102020204" pitchFamily="34" charset="0"/>
            </a:endParaRPr>
          </a:p>
          <a:p>
            <a:pPr>
              <a:spcBef>
                <a:spcPts val="10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rPr lang="en-IN" sz="2800" u="sng" dirty="0">
                <a:solidFill>
                  <a:srgbClr val="EA580C"/>
                </a:solidFill>
                <a:uFill>
                  <a:solidFill>
                    <a:schemeClr val="bg1"/>
                  </a:solidFill>
                </a:uFill>
                <a:latin typeface="Arial Black" panose="020B0A04020102020204" pitchFamily="34" charset="0"/>
              </a:rPr>
              <a:t>SUPPORT AI TICKET MANAGEMENT AGENT</a:t>
            </a:r>
            <a:endParaRPr sz="2800" u="sng" dirty="0">
              <a:solidFill>
                <a:srgbClr val="EA580C"/>
              </a:solidFill>
              <a:uFill>
                <a:solidFill>
                  <a:schemeClr val="bg1"/>
                </a:solidFill>
              </a:uFill>
              <a:latin typeface="Arial Black" panose="020B0A04020102020204" pitchFamily="34" charset="0"/>
            </a:endParaRP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rPr dirty="0"/>
              <a:t>Integrating Llama 3.2 Chatbot</a:t>
            </a:r>
            <a:r>
              <a:rPr lang="en-IN" dirty="0"/>
              <a:t> and sentimental analysis</a:t>
            </a:r>
            <a:r>
              <a:rPr dirty="0"/>
              <a:t>, SQLite Analytics, and</a:t>
            </a:r>
            <a:r>
              <a:rPr lang="en-IN" dirty="0"/>
              <a:t> data</a:t>
            </a:r>
            <a:r>
              <a:rPr dirty="0"/>
              <a:t> </a:t>
            </a:r>
            <a:r>
              <a:rPr lang="en-IN" dirty="0"/>
              <a:t>dashboards with KPI cards</a:t>
            </a:r>
            <a:endParaRPr dirty="0"/>
          </a:p>
          <a:p>
            <a:pPr>
              <a:spcBef>
                <a:spcPts val="3000"/>
              </a:spcBef>
              <a:defRPr sz="1200" b="1">
                <a:solidFill>
                  <a:srgbClr val="EA580C"/>
                </a:solidFill>
                <a:latin typeface="Arial"/>
              </a:defRPr>
            </a:pPr>
            <a:r>
              <a:rPr lang="en-IN" dirty="0">
                <a:solidFill>
                  <a:srgbClr val="FFF7ED"/>
                </a:solidFill>
              </a:rPr>
              <a:t>- Abhiram Girkabai</a:t>
            </a:r>
            <a:endParaRPr dirty="0">
              <a:solidFill>
                <a:srgbClr val="FFF7E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The IT Support Bottleneck &amp; 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8404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2000" b="1">
                <a:solidFill>
                  <a:srgbClr val="EA580C"/>
                </a:solidFill>
                <a:latin typeface="Arial"/>
              </a:defRPr>
            </a:pPr>
            <a:r>
              <a:rPr dirty="0">
                <a:latin typeface="Arial Black" panose="020B0A04020102020204" pitchFamily="34" charset="0"/>
              </a:rPr>
              <a:t>The Bottlenecks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Manual Ticket Categorization: IT staff waste hours checking and classifying incoming issues manually.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Repetitive Queries: Technicians spend time answering duplicate employee questions instead of solving core bugs.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Disconnected History: Past resolved ticket solutions exist in logs but are never recycled for live resolution.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38404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2000" b="1">
                <a:solidFill>
                  <a:srgbClr val="EA580C"/>
                </a:solidFill>
                <a:latin typeface="Arial"/>
              </a:defRPr>
            </a:pPr>
            <a:r>
              <a:rPr dirty="0">
                <a:latin typeface="Arial Black" panose="020B0A04020102020204" pitchFamily="34" charset="0"/>
              </a:rPr>
              <a:t> The Support AI Answer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dirty="0"/>
              <a:t>• AI Auto-Classification: Auto-detects category (e.g. Network, Hardware, Software) and priority via local AI model.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dirty="0"/>
              <a:t>• Contextual AI </a:t>
            </a:r>
            <a:r>
              <a:rPr lang="en-IN" dirty="0" err="1"/>
              <a:t>Assitant</a:t>
            </a:r>
            <a:r>
              <a:rPr dirty="0"/>
              <a:t>: Embeds a chatbot right inside the ticket view to guide </a:t>
            </a:r>
            <a:r>
              <a:rPr lang="en-IN" dirty="0"/>
              <a:t>admin and technician</a:t>
            </a:r>
            <a:r>
              <a:rPr dirty="0"/>
              <a:t> using database history.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dirty="0"/>
              <a:t>• Zero-Waste Resolutions: Auto-injects past ticket remarks into Llama 3.2 prompt context to offer pre-validated fixes.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System Architecture &amp;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t" anchorCtr="0"/>
          <a:lstStyle/>
          <a:p>
            <a:pPr algn="ctr">
              <a:defRPr sz="1600" b="1">
                <a:solidFill>
                  <a:srgbClr val="EA580C"/>
                </a:solidFill>
                <a:latin typeface="Arial"/>
              </a:defRPr>
            </a:pPr>
            <a:r>
              <a:rPr lang="en-IN" dirty="0">
                <a:latin typeface="Arial Black" panose="020B0A04020102020204" pitchFamily="34" charset="0"/>
              </a:rPr>
              <a:t>React Frontend</a:t>
            </a:r>
          </a:p>
          <a:p>
            <a:pPr algn="ctr">
              <a:defRPr sz="1600" b="1">
                <a:solidFill>
                  <a:srgbClr val="EA580C"/>
                </a:solidFill>
                <a:latin typeface="Arial"/>
              </a:defRPr>
            </a:pPr>
            <a:endParaRPr lang="en-IN" dirty="0"/>
          </a:p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rPr lang="en-IN" dirty="0"/>
              <a:t>Interactive Client Portal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lang="en-IN" dirty="0"/>
              <a:t>▫️ React State Machine: Handles view switching, ticket tracking, and connection diagnostics.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lang="en-IN" dirty="0"/>
              <a:t>▫️ Peach Matte Style Guide: Soft peach backdrop, high-contrast black borders, smooth pill badges, and hover animations.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lang="en-IN" dirty="0"/>
              <a:t>▫️ Dynamic Dashboards: Tabbed layout toggling Employee Forms, Technician Queues, and AI Admin Graphs.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560320" cy="320040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t" anchorCtr="0"/>
          <a:lstStyle/>
          <a:p>
            <a:pPr algn="ctr">
              <a:defRPr sz="1600" b="1">
                <a:solidFill>
                  <a:srgbClr val="EA580C"/>
                </a:solidFill>
                <a:latin typeface="Arial"/>
              </a:defRPr>
            </a:pPr>
            <a:r>
              <a:rPr lang="en-IN" dirty="0">
                <a:solidFill>
                  <a:schemeClr val="bg1"/>
                </a:solidFill>
                <a:latin typeface="Arial Black" panose="020B0A04020102020204" pitchFamily="34" charset="0"/>
              </a:rPr>
              <a:t>Express Backend</a:t>
            </a:r>
          </a:p>
          <a:p>
            <a:pPr algn="ctr">
              <a:defRPr sz="1600" b="1">
                <a:solidFill>
                  <a:srgbClr val="EA580C"/>
                </a:solidFill>
                <a:latin typeface="Arial"/>
              </a:defRPr>
            </a:pPr>
            <a:endParaRPr lang="en-IN" dirty="0"/>
          </a:p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rPr lang="en-IN" dirty="0">
                <a:solidFill>
                  <a:srgbClr val="C24F16"/>
                </a:solidFill>
              </a:rPr>
              <a:t>Secure Database Server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  <a:latin typeface="Arial"/>
              </a:defRPr>
            </a:pPr>
            <a:r>
              <a:rPr lang="en-IN" dirty="0">
                <a:solidFill>
                  <a:srgbClr val="EA580C"/>
                </a:solidFill>
              </a:rPr>
              <a:t>▫️ RESTful API endpoints: Connects React to SQLite data pipelines (Fetch/Update/Resolve).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  <a:latin typeface="Arial"/>
              </a:defRPr>
            </a:pPr>
            <a:r>
              <a:rPr lang="en-IN" dirty="0">
                <a:solidFill>
                  <a:srgbClr val="EA580C"/>
                </a:solidFill>
              </a:rPr>
              <a:t>▫️ SQLite Storage: Stores employee profiles, ticket logs, priority metrics, and resolution remarks.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  <a:latin typeface="Arial"/>
              </a:defRPr>
            </a:pPr>
            <a:r>
              <a:rPr lang="en-IN" dirty="0">
                <a:solidFill>
                  <a:srgbClr val="EA580C"/>
                </a:solidFill>
              </a:rPr>
              <a:t>▫️ Leaderboard Aggregator: Runs real-time queries counting active vs resolved ratios.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5603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t" anchorCtr="0"/>
          <a:lstStyle/>
          <a:p>
            <a:pPr algn="ctr">
              <a:defRPr sz="1600" b="1">
                <a:solidFill>
                  <a:srgbClr val="EA580C"/>
                </a:solidFill>
                <a:latin typeface="Arial"/>
              </a:defRPr>
            </a:pPr>
            <a:r>
              <a:rPr lang="en-IN" dirty="0">
                <a:latin typeface="Arial Black" panose="020B0A04020102020204" pitchFamily="34" charset="0"/>
              </a:rPr>
              <a:t>Local Llama 3.2</a:t>
            </a:r>
          </a:p>
          <a:p>
            <a:pPr algn="ctr">
              <a:defRPr sz="1600" b="1">
                <a:solidFill>
                  <a:srgbClr val="EA580C"/>
                </a:solidFill>
                <a:latin typeface="Arial"/>
              </a:defRPr>
            </a:pPr>
            <a:endParaRPr lang="en-IN" dirty="0"/>
          </a:p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rPr lang="en-IN" dirty="0" err="1"/>
              <a:t>Ollama</a:t>
            </a:r>
            <a:r>
              <a:rPr lang="en-IN" dirty="0"/>
              <a:t> Inference Engine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lang="en-IN" dirty="0"/>
              <a:t>▫️ Locally Hosted Model: Runs llama3.2 VM at 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lang="en-IN" dirty="0"/>
              <a:t>▫️ </a:t>
            </a:r>
            <a:r>
              <a:rPr lang="en-US" dirty="0"/>
              <a:t>llama3.2-powered chatbot: System prompt parses the </a:t>
            </a:r>
            <a:r>
              <a:rPr lang="en-IN" dirty="0"/>
              <a:t>current issue and also provides required information of the current raised ticket selected by comparing with previous similar threads and resolved remarks.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lang="en-IN" dirty="0"/>
              <a:t>▫️ Offline Database Backup: Data of the employee’s ticket will be stored locally, promoting data safety</a:t>
            </a:r>
            <a:endParaRPr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C9443585-C7DE-C201-F556-7124D27E2D1F}"/>
              </a:ext>
            </a:extLst>
          </p:cNvPr>
          <p:cNvSpPr/>
          <p:nvPr/>
        </p:nvSpPr>
        <p:spPr>
          <a:xfrm>
            <a:off x="1371600" y="4297680"/>
            <a:ext cx="615696" cy="627888"/>
          </a:xfrm>
          <a:prstGeom prst="flowChartConnector">
            <a:avLst/>
          </a:prstGeom>
          <a:solidFill>
            <a:srgbClr val="1E293B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Vineta BT" panose="04020906050602070202" pitchFamily="82" charset="0"/>
              </a:rPr>
              <a:t>1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885AC52F-A878-0EF7-12F6-CE09108F27E2}"/>
              </a:ext>
            </a:extLst>
          </p:cNvPr>
          <p:cNvSpPr/>
          <p:nvPr/>
        </p:nvSpPr>
        <p:spPr>
          <a:xfrm>
            <a:off x="7098792" y="4297680"/>
            <a:ext cx="615696" cy="627888"/>
          </a:xfrm>
          <a:prstGeom prst="flowChartConnector">
            <a:avLst/>
          </a:prstGeom>
          <a:solidFill>
            <a:srgbClr val="1E293B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Vineta BT" panose="04020906050602070202" pitchFamily="82" charset="0"/>
              </a:rPr>
              <a:t>3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A71E684-27EC-2FE3-AACD-7F003A3F59F3}"/>
              </a:ext>
            </a:extLst>
          </p:cNvPr>
          <p:cNvSpPr/>
          <p:nvPr/>
        </p:nvSpPr>
        <p:spPr>
          <a:xfrm>
            <a:off x="4264152" y="4297680"/>
            <a:ext cx="615696" cy="627888"/>
          </a:xfrm>
          <a:prstGeom prst="flowChartConnector">
            <a:avLst/>
          </a:prstGeom>
          <a:solidFill>
            <a:srgbClr val="FFF7ED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EA580C"/>
                </a:solidFill>
                <a:latin typeface="Vineta BT" panose="04020906050602070202" pitchFamily="82" charset="0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69130B-84CE-3168-7B8A-BBCB425D2B5A}"/>
              </a:ext>
            </a:extLst>
          </p:cNvPr>
          <p:cNvSpPr txBox="1"/>
          <p:nvPr/>
        </p:nvSpPr>
        <p:spPr>
          <a:xfrm>
            <a:off x="457200" y="148883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 lang="en-US" dirty="0"/>
              <a:t>Login and System Environment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D19947-5C7D-6E6A-DAF2-F4FD939BB1EF}"/>
              </a:ext>
            </a:extLst>
          </p:cNvPr>
          <p:cNvSpPr/>
          <p:nvPr/>
        </p:nvSpPr>
        <p:spPr>
          <a:xfrm>
            <a:off x="457200" y="750745"/>
            <a:ext cx="8229600" cy="3657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438B19-BB9D-ACF9-FDE4-ECF8419D6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861099"/>
            <a:ext cx="2371342" cy="922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2F2506-5E58-8564-74CD-227857065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57307"/>
            <a:ext cx="2371343" cy="3259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22B123-6E4E-0B73-9FCA-1963C839D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3662" y="969264"/>
            <a:ext cx="5756826" cy="385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10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endParaRPr lang="en-IN" sz="2400" dirty="0">
              <a:latin typeface="Arial Black" panose="020B0A04020102020204" pitchFamily="34" charset="0"/>
            </a:endParaRPr>
          </a:p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 lang="en-IN" sz="2400" dirty="0">
                <a:latin typeface="Arial Black" panose="020B0A04020102020204" pitchFamily="34" charset="0"/>
              </a:rPr>
              <a:t>Ticket Logs and Llama3.2-Powered Chatbot</a:t>
            </a:r>
            <a:endParaRPr sz="2400" dirty="0"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2723" y="1279606"/>
            <a:ext cx="8229600" cy="3657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2358" y="1472184"/>
            <a:ext cx="41148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 anchorCtr="0"/>
          <a:lstStyle/>
          <a:p>
            <a:pPr algn="ctr">
              <a:defRPr sz="1400" b="1">
                <a:solidFill>
                  <a:srgbClr val="EA580C"/>
                </a:solidFill>
                <a:latin typeface="Arial"/>
              </a:defRPr>
            </a:pPr>
            <a:r>
              <a:rPr dirty="0">
                <a:latin typeface="Arial Black" panose="020B0A04020102020204" pitchFamily="34" charset="0"/>
              </a:rPr>
              <a:t>Ticket Details (Top Panel)</a:t>
            </a:r>
            <a:endParaRPr lang="en-IN" dirty="0">
              <a:latin typeface="Arial Black" panose="020B0A04020102020204" pitchFamily="34" charset="0"/>
            </a:endParaRP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lang="en-IN" dirty="0"/>
              <a:t>• List/Logs of the details of the tickets raised by the employee with the issue description </a:t>
            </a:r>
            <a:br>
              <a:rPr dirty="0"/>
            </a:br>
            <a:r>
              <a:rPr dirty="0"/>
              <a:t>• Shows employee, category, and priority </a:t>
            </a:r>
            <a:r>
              <a:rPr lang="en-IN" dirty="0"/>
              <a:t>of the raised ticket</a:t>
            </a:r>
            <a:br>
              <a:rPr dirty="0"/>
            </a:br>
            <a:r>
              <a:rPr dirty="0"/>
              <a:t>•</a:t>
            </a:r>
            <a:r>
              <a:rPr lang="en-IN" dirty="0"/>
              <a:t> It also provides a thread option which directs the admin or the technician to the llama 3.2- powered Chatbot to know more about the raised ticket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2557626" y="3274106"/>
            <a:ext cx="41148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 anchorCtr="0"/>
          <a:lstStyle/>
          <a:p>
            <a:pPr algn="ctr">
              <a:defRPr sz="1400" b="1">
                <a:solidFill>
                  <a:srgbClr val="EA580C"/>
                </a:solidFill>
                <a:latin typeface="Arial"/>
              </a:defRPr>
            </a:pPr>
            <a:r>
              <a:rPr dirty="0">
                <a:latin typeface="Arial Black" panose="020B0A04020102020204" pitchFamily="34" charset="0"/>
              </a:rPr>
              <a:t>Chatbot (Bottom Panel)</a:t>
            </a:r>
            <a:endParaRPr lang="en-IN" dirty="0">
              <a:latin typeface="Arial Black" panose="020B0A04020102020204" pitchFamily="34" charset="0"/>
            </a:endParaRP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lang="en-IN" dirty="0"/>
              <a:t>• Integrated by the </a:t>
            </a:r>
            <a:r>
              <a:rPr lang="en-IN" dirty="0" err="1"/>
              <a:t>Ollama</a:t>
            </a:r>
            <a:r>
              <a:rPr lang="en-IN" dirty="0"/>
              <a:t> llama3.2 model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•</a:t>
            </a:r>
            <a:r>
              <a:rPr lang="en-IN" dirty="0"/>
              <a:t> Provides the details of the tickets raised by the employee along provides the previous similar tickets raised by other employee, Which can be used to resolve the issue by themselves 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lang="en-IN" dirty="0"/>
              <a:t>• </a:t>
            </a:r>
            <a:r>
              <a:rPr lang="en-IN" dirty="0" err="1"/>
              <a:t>Ollama</a:t>
            </a:r>
            <a:r>
              <a:rPr lang="en-IN" dirty="0"/>
              <a:t> llama3.2 is also used for prioritising the tickets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4BE25807-9B54-3D18-641A-A27E6CF21B41}"/>
              </a:ext>
            </a:extLst>
          </p:cNvPr>
          <p:cNvSpPr/>
          <p:nvPr/>
        </p:nvSpPr>
        <p:spPr>
          <a:xfrm>
            <a:off x="4666842" y="1472184"/>
            <a:ext cx="41148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 anchorCtr="0"/>
          <a:lstStyle/>
          <a:p>
            <a:pPr algn="ctr">
              <a:defRPr sz="1400" b="1">
                <a:solidFill>
                  <a:srgbClr val="EA580C"/>
                </a:solidFill>
                <a:latin typeface="Arial"/>
              </a:defRPr>
            </a:pPr>
            <a:r>
              <a:rPr lang="en-US" dirty="0">
                <a:latin typeface="Arial Black" panose="020B0A04020102020204" pitchFamily="34" charset="0"/>
              </a:rPr>
              <a:t>Access restriction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lang="en-US" dirty="0"/>
              <a:t>• With using the prior page user can choose Employee/Technician/ Admin portal to login</a:t>
            </a:r>
            <a:br>
              <a:rPr lang="en-US" dirty="0"/>
            </a:br>
            <a:r>
              <a:rPr lang="en-US" dirty="0"/>
              <a:t>• Using the portal selection result from the user the </a:t>
            </a:r>
            <a:r>
              <a:rPr lang="en-US" dirty="0" err="1"/>
              <a:t>acess</a:t>
            </a:r>
            <a:r>
              <a:rPr lang="en-US" dirty="0"/>
              <a:t> for the different services will be provided.</a:t>
            </a:r>
            <a:br>
              <a:rPr lang="en-US" dirty="0"/>
            </a:br>
            <a:r>
              <a:rPr lang="en-US" dirty="0"/>
              <a:t>• This promotes the safety and security of the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695C09-5BE9-B89F-9EAA-5101CFC90A0F}"/>
              </a:ext>
            </a:extLst>
          </p:cNvPr>
          <p:cNvSpPr txBox="1"/>
          <p:nvPr/>
        </p:nvSpPr>
        <p:spPr>
          <a:xfrm>
            <a:off x="652272" y="-103632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endParaRPr lang="en-IN" sz="2400" dirty="0">
              <a:latin typeface="Arial Black" panose="020B0A04020102020204" pitchFamily="34" charset="0"/>
            </a:endParaRPr>
          </a:p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 lang="en-IN" sz="2400" dirty="0">
                <a:latin typeface="Arial Black" panose="020B0A04020102020204" pitchFamily="34" charset="0"/>
              </a:rPr>
              <a:t>Ticket Logs and Llama3.2-Powered Chatbot</a:t>
            </a:r>
            <a:endParaRPr sz="2400" dirty="0">
              <a:latin typeface="Arial Black" panose="020B0A04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1DCF0E-BBA6-AC72-EBFB-1A91C3CFB4CF}"/>
              </a:ext>
            </a:extLst>
          </p:cNvPr>
          <p:cNvSpPr/>
          <p:nvPr/>
        </p:nvSpPr>
        <p:spPr>
          <a:xfrm>
            <a:off x="392723" y="798022"/>
            <a:ext cx="8229600" cy="3657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E86009-9977-89E8-2B10-4FFB44102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23" y="932688"/>
            <a:ext cx="4045165" cy="26261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062C1A6-A17B-BC00-5058-744FAC1D2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523" y="2504902"/>
            <a:ext cx="4572000" cy="247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60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 dirty="0">
                <a:latin typeface="Arial Black" panose="020B0A04020102020204" pitchFamily="34" charset="0"/>
              </a:rPr>
              <a:t>AI Analysis &amp; Executive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8404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t" anchorCtr="0"/>
          <a:lstStyle/>
          <a:p>
            <a:pPr algn="ctr">
              <a:defRPr sz="1800" b="1">
                <a:solidFill>
                  <a:srgbClr val="1E293B"/>
                </a:solidFill>
                <a:latin typeface="Arial"/>
              </a:defRPr>
            </a:pPr>
            <a:r>
              <a:rPr lang="en-US">
                <a:solidFill>
                  <a:srgbClr val="EA580C"/>
                </a:solidFill>
                <a:latin typeface="Arial Black" panose="020B0A04020102020204" pitchFamily="34" charset="0"/>
              </a:rPr>
              <a:t>Priority Distribution</a:t>
            </a:r>
          </a:p>
          <a:p>
            <a:pPr>
              <a:spcBef>
                <a:spcPts val="800"/>
              </a:spcBef>
              <a:defRPr sz="1100" b="1">
                <a:solidFill>
                  <a:srgbClr val="EA580C"/>
                </a:solidFill>
                <a:latin typeface="Arial"/>
              </a:defRPr>
            </a:pPr>
            <a:r>
              <a:rPr lang="en-US">
                <a:solidFill>
                  <a:schemeClr val="bg1"/>
                </a:solidFill>
              </a:rPr>
              <a:t>Premium Donut Visualization: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rPr lang="en-US">
                <a:solidFill>
                  <a:srgbClr val="FFF7ED"/>
                </a:solidFill>
              </a:rPr>
              <a:t>• Thick segment rings: 36px stroke width layout instead of thin lines.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rPr lang="en-US">
                <a:solidFill>
                  <a:srgbClr val="FFF7ED"/>
                </a:solidFill>
              </a:rPr>
              <a:t>• Curated visual elements: Uses premium linear gradients to match our slate-orange color system.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rPr lang="en-US">
                <a:solidFill>
                  <a:srgbClr val="FFF7ED"/>
                </a:solidFill>
              </a:rPr>
              <a:t>• Responsive SVG arcs: Built with custom SVG stroke dasharrays and smooth rounded caps.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rPr lang="en-US">
                <a:solidFill>
                  <a:srgbClr val="FFF7ED"/>
                </a:solidFill>
              </a:rPr>
              <a:t>• Interactive Legend: Pill-shaped indicators displaying real-time percentages of Critical/High/Medium/Low priority runs.</a:t>
            </a:r>
            <a:endParaRPr lang="en-US" dirty="0">
              <a:solidFill>
                <a:srgbClr val="FFF7ED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946946-F3C6-9A08-59E3-F4C757A55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2" y="1316904"/>
            <a:ext cx="3191174" cy="30540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5F8633-9AEE-145F-1550-B1E96314B65F}"/>
              </a:ext>
            </a:extLst>
          </p:cNvPr>
          <p:cNvSpPr txBox="1"/>
          <p:nvPr/>
        </p:nvSpPr>
        <p:spPr>
          <a:xfrm>
            <a:off x="457200" y="3657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 dirty="0">
                <a:latin typeface="Arial Black" panose="020B0A04020102020204" pitchFamily="34" charset="0"/>
              </a:rPr>
              <a:t>AI Analysis &amp; Executive Dashboard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5BC09D-A61A-78B0-F12C-C70F1477E4CF}"/>
              </a:ext>
            </a:extLst>
          </p:cNvPr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B073FD6C-99F9-77B4-CC02-0953A76570E5}"/>
              </a:ext>
            </a:extLst>
          </p:cNvPr>
          <p:cNvSpPr/>
          <p:nvPr/>
        </p:nvSpPr>
        <p:spPr>
          <a:xfrm>
            <a:off x="457200" y="1393372"/>
            <a:ext cx="38404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t" anchorCtr="0"/>
          <a:lstStyle/>
          <a:p>
            <a:pPr algn="ctr">
              <a:defRPr sz="1800" b="1">
                <a:solidFill>
                  <a:srgbClr val="EA580C"/>
                </a:solidFill>
                <a:latin typeface="Arial"/>
              </a:defRPr>
            </a:pPr>
            <a:r>
              <a:rPr lang="en-US" dirty="0">
                <a:latin typeface="Arial Black" panose="020B0A04020102020204" pitchFamily="34" charset="0"/>
              </a:rPr>
              <a:t>Category Breakdown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Vertical Bar Chart </a:t>
            </a:r>
            <a:r>
              <a:rPr lang="en-US" dirty="0" err="1"/>
              <a:t>Visualisation</a:t>
            </a:r>
            <a:r>
              <a:rPr lang="en-US" dirty="0"/>
              <a:t>: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• Clean structure: Removed messy line charts and replaced with premium vertical bar grids.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• Rounded top corners: Soft borders blending cleanly with the UI.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• Gradient bars: Smooth </a:t>
            </a:r>
            <a:r>
              <a:rPr lang="en-US" dirty="0" err="1"/>
              <a:t>colour</a:t>
            </a:r>
            <a:r>
              <a:rPr lang="en-US" dirty="0"/>
              <a:t> fades from orange to dark orange representing ticket volumes.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• Grid guidance: Subtle dashed background guide rules to track relative scale of Network, Hardware, and Software tickets.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50EF67-AE95-214B-956E-349B884A5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727" y="1393372"/>
            <a:ext cx="3132596" cy="30020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2563552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Robust Offline Resilience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640080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000" b="1">
                <a:solidFill>
                  <a:srgbClr val="EA580C"/>
                </a:solidFill>
                <a:latin typeface="Arial"/>
              </a:defRPr>
            </a:pPr>
            <a:r>
              <a:rPr dirty="0"/>
              <a:t>Multi-Tier Offline Protection Heuristics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IN" dirty="0"/>
              <a:t>- </a:t>
            </a:r>
            <a:r>
              <a:rPr dirty="0"/>
              <a:t>Diagnostic Indicators: Real-time UI alerts checking database and </a:t>
            </a:r>
            <a:r>
              <a:rPr dirty="0" err="1"/>
              <a:t>Ollama</a:t>
            </a:r>
            <a:r>
              <a:rPr dirty="0"/>
              <a:t> VM statuses, warning users if a server goes offline.</a:t>
            </a:r>
            <a:endParaRPr lang="en-US" dirty="0"/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dirty="0"/>
              <a:t>- Prediction of the ticket and integrating multi-AI agents to solve the issue without any human intervention.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IN" dirty="0"/>
              <a:t>- </a:t>
            </a:r>
            <a:r>
              <a:rPr dirty="0"/>
              <a:t>Fallback Database Chat Queries: Chatbot runs keyword matching against SQLite resolved tickets when local </a:t>
            </a:r>
            <a:r>
              <a:rPr dirty="0" err="1"/>
              <a:t>Ollama</a:t>
            </a:r>
            <a:r>
              <a:rPr dirty="0"/>
              <a:t> VM is unreachable.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IN" dirty="0"/>
              <a:t>- </a:t>
            </a:r>
            <a:r>
              <a:rPr dirty="0"/>
              <a:t>Zero Crashing Guarantee: Gracefully notifies user of status instead of stalling UI elements or crashing API calls.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7315200" cy="2269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A580C"/>
                </a:solidFill>
                <a:latin typeface="Arial"/>
              </a:defRPr>
            </a:pPr>
            <a:r>
              <a:rPr lang="en-IN" dirty="0"/>
              <a:t> </a:t>
            </a:r>
            <a:r>
              <a:rPr dirty="0"/>
              <a:t>Project Summary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rPr dirty="0"/>
              <a:t>Successfully delivered a modern, AI-integrated ticketing platform featuring a premium Peach Matte design, secure Admin panels, local Llama 3.2 chatbot assistance, and database fallback search tools.</a:t>
            </a:r>
          </a:p>
          <a:p>
            <a:pPr algn="ctr">
              <a:spcBef>
                <a:spcPts val="3000"/>
              </a:spcBef>
              <a:defRPr sz="2000" b="1">
                <a:solidFill>
                  <a:srgbClr val="EA580C"/>
                </a:solidFill>
                <a:latin typeface="Arial"/>
              </a:defRPr>
            </a:pPr>
            <a:r>
              <a:rPr dirty="0"/>
              <a:t>Thank You!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811</Words>
  <Application>Microsoft Office PowerPoint</Application>
  <PresentationFormat>On-screen Show (16:9)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Vineta BT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Abhiram</dc:creator>
  <cp:keywords/>
  <dc:description>generated using python-pptx</dc:description>
  <cp:lastModifiedBy>Abhiram Girkabai</cp:lastModifiedBy>
  <cp:revision>7</cp:revision>
  <dcterms:created xsi:type="dcterms:W3CDTF">2013-01-27T09:14:16Z</dcterms:created>
  <dcterms:modified xsi:type="dcterms:W3CDTF">2026-08-14T15:19:46Z</dcterms:modified>
  <cp:category/>
</cp:coreProperties>
</file>